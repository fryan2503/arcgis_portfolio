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C74F27-316D-4E67-953C-0E0E54CFDA8E}">
  <a:tblStyle styleId="{81C74F27-316D-4E67-953C-0E0E54CFDA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c2962e888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c2962e888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c2c27350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c2c27350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c2c27350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c2c27350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e1d6d4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fe1d6d4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fe1d6d46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fe1d6d46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fe1d6d46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fe1d6d46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Miami Red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879953" y="2672160"/>
            <a:ext cx="7255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79953" y="2204782"/>
            <a:ext cx="7255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Miami Red">
  <p:cSld name="1_Title and Content Miami Re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63463" y="1243365"/>
            <a:ext cx="82296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00"/>
            </a:lvl1pPr>
            <a:lvl2pPr indent="-2921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700"/>
            </a:lvl2pPr>
            <a:lvl3pPr indent="-2857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500"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1400"/>
            </a:lvl4pPr>
            <a:lvl5pPr indent="-2730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Tan">
  <p:cSld name="1_Title and Content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61114" y="1243365"/>
            <a:ext cx="82296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Photo">
  <p:cSld name="Title Slide Ph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879953" y="2672160"/>
            <a:ext cx="7255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879953" y="2176598"/>
            <a:ext cx="7255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Miami Red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63620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702741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Tan">
  <p:cSld name="Two Content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61114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713074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Miami Red">
  <p:cSld name="1_Two Content Miami Re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63620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702741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Tan">
  <p:cSld name="Comparison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57200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457199" y="1224715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57199" y="1709705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3" type="body"/>
          </p:nvPr>
        </p:nvSpPr>
        <p:spPr>
          <a:xfrm>
            <a:off x="4705246" y="1224715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9"/>
          <p:cNvSpPr txBox="1"/>
          <p:nvPr>
            <p:ph idx="4" type="body"/>
          </p:nvPr>
        </p:nvSpPr>
        <p:spPr>
          <a:xfrm>
            <a:off x="4705246" y="1709705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Miami Red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Miami Red">
  <p:cSld name="1_Blank Miami Re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an">
  <p:cSld name="1_Blank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Tan">
  <p:cSld name="1_Two Content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61114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713074" y="1243365"/>
            <a:ext cx="3977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Miami Red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73843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199" y="1223470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708460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body"/>
          </p:nvPr>
        </p:nvSpPr>
        <p:spPr>
          <a:xfrm>
            <a:off x="4705246" y="1223470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14"/>
          <p:cNvSpPr txBox="1"/>
          <p:nvPr>
            <p:ph idx="4" type="body"/>
          </p:nvPr>
        </p:nvSpPr>
        <p:spPr>
          <a:xfrm>
            <a:off x="4705246" y="1708460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Miami Red">
  <p:cSld name="1_Comparison Miami Re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200" y="273843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199" y="1223470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57200" y="1708460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3" type="body"/>
          </p:nvPr>
        </p:nvSpPr>
        <p:spPr>
          <a:xfrm>
            <a:off x="4705246" y="1223470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8" name="Google Shape;68;p15"/>
          <p:cNvSpPr txBox="1"/>
          <p:nvPr>
            <p:ph idx="4" type="body"/>
          </p:nvPr>
        </p:nvSpPr>
        <p:spPr>
          <a:xfrm>
            <a:off x="4705246" y="1708460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Tan">
  <p:cSld name="1_Comparison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457200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199" y="1224715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57199" y="1709705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4705246" y="1224715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705246" y="1709705"/>
            <a:ext cx="3977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Miami Red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Tan">
  <p:cSld name="Title Only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Miami Red">
  <p:cSld name="1_Title Only Miami Re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Tan">
  <p:cSld name="1_Title Only Ta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1114" y="1243365"/>
            <a:ext cx="82296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625486" y="483207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s://data.census.gov/map/160XX00US3901000,3902736,3907972,3915000,3916000,3918000,3921000,3939872,3964304,3977000,3988000?q=Ohio&amp;t=Age+and+Sex&amp;y=2010&amp;layer=VT_2010_160_00_PY_D1&amp;loc=40.2461,-82.8671,z6.9526" TargetMode="External"/><Relationship Id="rId10" Type="http://schemas.openxmlformats.org/officeDocument/2006/relationships/hyperlink" Target="https://censusreporter.org/data/map/?table=B01003&amp;geo_ids=16000US3959234,16000US3918000,16000US3902736,16000US3907972,16000US3985092,16000US3939872,16000US3916000,16000US3964304,16000US3901000,16000US3977000,16000US3915000,16000US3921000,16000US3988000&amp;primary_geo_id=16000US3959234" TargetMode="External"/><Relationship Id="rId13" Type="http://schemas.openxmlformats.org/officeDocument/2006/relationships/hyperlink" Target="https://highered.ohio.gov/data-reports/key-topic-areas/dr-enrollment#HeadcountDatasets" TargetMode="External"/><Relationship Id="rId12" Type="http://schemas.openxmlformats.org/officeDocument/2006/relationships/hyperlink" Target="https://data.census.gov/table/ACSDT5Y2020.B11016?q=B11016:+Household+Type+by+Household+Size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ensusreporter.org/topics/education/" TargetMode="External"/><Relationship Id="rId4" Type="http://schemas.openxmlformats.org/officeDocument/2006/relationships/hyperlink" Target="https://highered.ohio.gov/about/ohios-campuses" TargetMode="External"/><Relationship Id="rId9" Type="http://schemas.openxmlformats.org/officeDocument/2006/relationships/hyperlink" Target="https://censusreporter.org/data/table/?table=B02001&amp;geo_ids=16000US3959234,16000US3918000,16000US3902736,16000US3907972,16000US3985092,16000US3939872,16000US3916000,16000US3964304,16000US3901000,16000US3977000,16000US3915000,16000US3921000,16000US3988000&amp;primary_geo_id=16000US3959234" TargetMode="External"/><Relationship Id="rId5" Type="http://schemas.openxmlformats.org/officeDocument/2006/relationships/hyperlink" Target="https://www2.census.gov/geo/tiger/TIGER2020PL/STATE/39_OHIO/ALL_ZIPPED/" TargetMode="External"/><Relationship Id="rId6" Type="http://schemas.openxmlformats.org/officeDocument/2006/relationships/hyperlink" Target="https://public-morpc.hub.arcgis.com/datasets/7134c72125d248fe9fdc894c453afe2e_0/about" TargetMode="External"/><Relationship Id="rId7" Type="http://schemas.openxmlformats.org/officeDocument/2006/relationships/hyperlink" Target="https://data.census.gov/table/ACSST5Y2023.S1501?q=Oberlin,+OH&amp;t=Educational+Attainment&amp;y=2023" TargetMode="External"/><Relationship Id="rId8" Type="http://schemas.openxmlformats.org/officeDocument/2006/relationships/hyperlink" Target="https://data.census.gov/table/ACSST5Y2023.S0101?q=Oxford,+OH&amp;t=Age+and+Sex&amp;y=2023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879953" y="2672160"/>
            <a:ext cx="7255800" cy="179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College Towns 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879953" y="2204782"/>
            <a:ext cx="7255800" cy="335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 451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0" name="Google Shape;100;p22"/>
          <p:cNvSpPr txBox="1"/>
          <p:nvPr/>
        </p:nvSpPr>
        <p:spPr>
          <a:xfrm>
            <a:off x="632550" y="1161025"/>
            <a:ext cx="7702800" cy="3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AutoNum type="arabicPeriod"/>
            </a:pPr>
            <a:r>
              <a:rPr lang="e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AutoNum type="arabicPeriod"/>
            </a:pPr>
            <a:r>
              <a:rPr lang="e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Dataset(s)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AutoNum type="arabicPeriod"/>
            </a:pPr>
            <a:r>
              <a:rPr lang="e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Maps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AutoNum type="arabicPeriod"/>
            </a:pPr>
            <a:r>
              <a:rPr lang="e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Timeline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AutoNum type="arabicPeriod"/>
            </a:pPr>
            <a:r>
              <a:rPr lang="e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Roles &amp; Responsibilities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106" name="Google Shape;106;p23"/>
          <p:cNvSpPr txBox="1"/>
          <p:nvPr/>
        </p:nvSpPr>
        <p:spPr>
          <a:xfrm>
            <a:off x="527775" y="963225"/>
            <a:ext cx="8014200" cy="3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Purpose: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Ohio is famous for its many colleges found in the ear;y 1800s-1900s that have created small communities around them.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Goal : How college towns are different from regular </a:t>
            </a: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towns in terms of 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Demographics 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Educational attainments 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Housing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How College Towns have changed over time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Size changes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Locations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289175" y="363548"/>
            <a:ext cx="8229600" cy="585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Datasets </a:t>
            </a:r>
            <a:endParaRPr/>
          </a:p>
        </p:txBody>
      </p:sp>
      <p:sp>
        <p:nvSpPr>
          <p:cNvPr id="112" name="Google Shape;112;p24"/>
          <p:cNvSpPr txBox="1"/>
          <p:nvPr/>
        </p:nvSpPr>
        <p:spPr>
          <a:xfrm>
            <a:off x="392850" y="949450"/>
            <a:ext cx="8358300" cy="3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Datasets: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Census - Education(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), Tracts = Ohio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Ohio Public University, Regional Campus, and Community College locations (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>
                <a:solidFill>
                  <a:srgbClr val="13131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2020 TIGER/Line Shapefiles (</a:t>
            </a: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Census 2020 BG Redistricting Data (</a:t>
            </a:r>
            <a:r>
              <a:rPr lang="en" sz="1500" u="sng">
                <a:solidFill>
                  <a:schemeClr val="hlink"/>
                </a:solidFill>
                <a:hlinkClick r:id="rId6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S1501 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Educational Attainment Oberlin, OH (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7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- 2023)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S0101 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 and Sex Demographics of Oxford, OH (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8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- 2023)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B02001 Race - public universities 2023 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9"/>
              </a:rPr>
              <a:t>link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marR="1397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Char char="●"/>
            </a:pPr>
            <a:r>
              <a:rPr b="1" lang="en" sz="1500">
                <a:solidFill>
                  <a:srgbClr val="222222"/>
                </a:solidFill>
                <a:highlight>
                  <a:srgbClr val="FFFFFF"/>
                </a:highlight>
              </a:rPr>
              <a:t>B01003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 and Sex Demographics Public Universities 2023</a:t>
            </a:r>
            <a:r>
              <a:rPr b="1" lang="en" sz="15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10"/>
              </a:rPr>
              <a:t>link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2010 population of public universities 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11"/>
              </a:rPr>
              <a:t>link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b="1"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B11016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Household Type by Household Size (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12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- 2023)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●"/>
            </a:pP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Enrollment at Public Universities </a:t>
            </a:r>
            <a:r>
              <a:rPr lang="en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13"/>
              </a:rPr>
              <a:t>link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- 2023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Maps</a:t>
            </a:r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373225" y="836850"/>
            <a:ext cx="840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maps per person. 6 total 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19" name="Google Shape;119;p25"/>
          <p:cNvGraphicFramePr/>
          <p:nvPr/>
        </p:nvGraphicFramePr>
        <p:xfrm>
          <a:off x="594650" y="126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{81C74F27-316D-4E67-953C-0E0E54CFDA8E}</a:tableStyleId>
              </a:tblPr>
              <a:tblGrid>
                <a:gridCol w="2091050"/>
                <a:gridCol w="5509725"/>
              </a:tblGrid>
              <a:tr h="4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Team Member: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Proposed Map: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4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Josh M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Showing College Town Boundaries by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using a heat map of college students living in smaller towns.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.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4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AJ G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Distribution of College Aged Population (18-24) around major Ohio Universities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4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Ryan Singh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Population/demographic change YoY for college towns</a:t>
                      </a:r>
                      <a:r>
                        <a:rPr lang="en"/>
                        <a:t>.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4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Brytni Mathews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Showing educational attainment data in areas with colleges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4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Keaton O’Donnell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Showing number of small households (&lt;=2) around Ohio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Universities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4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Sarah Scheuern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 changes across 10 years of Ohio Public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Universities undergraduate 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461114" y="273844"/>
            <a:ext cx="8229600" cy="822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125" name="Google Shape;125;p26"/>
          <p:cNvSpPr txBox="1"/>
          <p:nvPr/>
        </p:nvSpPr>
        <p:spPr>
          <a:xfrm>
            <a:off x="461125" y="942000"/>
            <a:ext cx="82635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Weekly Meetings on Wednesday evenings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2+ maps </a:t>
            </a: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created a week as we have 6 members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●"/>
            </a:pP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Start the final report around the week of Thanksgiving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26" name="Google Shape;126;p26"/>
          <p:cNvGraphicFramePr/>
          <p:nvPr/>
        </p:nvGraphicFramePr>
        <p:xfrm>
          <a:off x="952500" y="281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{81C74F27-316D-4E67-953C-0E0E54CFDA8E}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Week 12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Week 13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Week 14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 Maps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Completed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 Maps Completed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 Maps Completed and working on the report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27"/>
          <p:cNvGraphicFramePr/>
          <p:nvPr/>
        </p:nvGraphicFramePr>
        <p:xfrm>
          <a:off x="548577" y="8539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{81C74F27-316D-4E67-953C-0E0E54CFDA8E}</a:tableStyleId>
              </a:tblPr>
              <a:tblGrid>
                <a:gridCol w="1555025"/>
                <a:gridCol w="6572675"/>
              </a:tblGrid>
              <a:tr h="35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Team Member: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Roles &amp; </a:t>
                      </a:r>
                      <a:r>
                        <a:rPr b="1"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Responsibilities: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7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Josh M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 will be responsible for creating my map looking at boundaries based on enrollment. I will also try and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coordinate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group meetings,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1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AJ G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 will use appropriate data sets in order to determine the distribution of college aged populations. I will also contribute to group discussion and help to ensure time constraints are met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Ryan Singh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Group leader, Responsible for submitting our work. I will be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responsible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for creating one of the maps about YoY 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population</a:t>
                      </a: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changes.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7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Brytni Mathews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Responsible for creating my map looking at educational attainment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7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Keaton O’Donnell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5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Sarah Scheuern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Responsible for creating map on enrollment changes at each university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Miami University 2021">
      <a:dk1>
        <a:srgbClr val="000000"/>
      </a:dk1>
      <a:lt1>
        <a:srgbClr val="FFFFFF"/>
      </a:lt1>
      <a:dk2>
        <a:srgbClr val="C31230"/>
      </a:dk2>
      <a:lt2>
        <a:srgbClr val="FAF9F7"/>
      </a:lt2>
      <a:accent1>
        <a:srgbClr val="C31230"/>
      </a:accent1>
      <a:accent2>
        <a:srgbClr val="AD102A"/>
      </a:accent2>
      <a:accent3>
        <a:srgbClr val="CCC9B8"/>
      </a:accent3>
      <a:accent4>
        <a:srgbClr val="EDECE2"/>
      </a:accent4>
      <a:accent5>
        <a:srgbClr val="EFDB71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